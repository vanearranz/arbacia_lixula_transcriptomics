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44C"/>
    <a:srgbClr val="7FAEC1"/>
    <a:srgbClr val="68745F"/>
    <a:srgbClr val="859477"/>
    <a:srgbClr val="78866D"/>
    <a:srgbClr val="3E5660"/>
    <a:srgbClr val="5A7C89"/>
    <a:srgbClr val="78A4B5"/>
    <a:srgbClr val="9BAC8A"/>
    <a:srgbClr val="C9D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AE51-D0B9-14A9-E598-96B9F983D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16C05-B506-85D0-352E-473AEF635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D2A1-11B3-FDE8-B4BD-A7B6339D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DE850-0B2D-B297-F050-981DEF34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D285F-E63B-A24B-4DC3-C417666B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1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C3D1-5702-DB68-B849-33CB3DEF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8AAA0-64D8-784A-EEC9-CB062D55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88B8E-150D-6891-83BA-0F5D163B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250A0-5C3F-1227-0BC7-79C6FF246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94547-EDCC-FABB-3E28-2727E6B0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CF11-AD13-FF9C-174D-D7317325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CC1CD-0A94-F737-28EE-6F7DE4C6A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5A6FA-3932-ADFA-D23A-F1356165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D523-542F-FB3F-D370-594705244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96CCB-8AC9-65DE-0924-C42E904E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34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69FD-1091-09AC-AEF3-F128FB55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72FB-BB13-DB33-9465-DB3F6721F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B3AE1-90BD-8EFE-BB8C-48A35A794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E89A2-C14C-2297-8F44-3D2AA33F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F78DA-8757-F6A8-8996-629DB8DC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106E9-A504-9CD1-58D8-95C3032C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7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5BD3-02FA-AEFE-77A0-75616030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2DE12-DE81-A1F8-9AD6-77176C24B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1DB4C-E921-E208-23DC-A4DEF7654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B81BC-FAB0-EDEE-8EA5-071DABD2C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07C3D-044A-58F4-403E-D00FAE16F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3B9E0-16DD-C24F-DE72-946651515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14A63-00AF-4581-A63C-15B56606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ECB8F-46AC-25E1-B63A-0E35291F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7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4E41-974F-AD13-6891-E5CB9382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2529B7-6B0A-E4B0-3E37-A097ABDE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E4AC6-5BD6-2C38-3AEE-5887AA43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5BB5B-7E41-01A7-78AB-D4EE0CFA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3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F5068-F67B-BB16-EDC8-0E422192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EEBD4-A949-3E07-0AE4-8F635299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AE6B-E039-99F9-19A4-49185CD3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9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5A96-C2AC-2285-E66E-5F42E650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D4AB0-4599-6E26-BC7A-F544674D8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C24B7-7EB7-129D-D4B5-07A2AC44E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7EED4-E3CC-0694-8F83-50532E68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CF0B2-B6FF-804B-B051-32116A32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5E729-8B43-7E64-3E7B-CE91183B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6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9D4C-A7B5-6EA7-B923-FC1426CC9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B1AA8-2CF7-E853-C8BF-01F60CA68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0D7BE-8144-70F0-8A79-FEBC80679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E2B36-E3B5-68D2-C2D4-40308DCEF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969E3-A56C-6567-7F55-E8B2AC5D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549BC-0AC5-98E7-BBE5-4D3D60E9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5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0894-DF63-9C68-9F83-D9674EDF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FEE04-F40B-0647-1418-A6E0A58DA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3CD03-419E-B55D-5367-EABBCF97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68C7B-628C-148B-E827-79128EE5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B5BC2-FFE0-B491-B7A8-EA68FADC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7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0F0E0B-02F1-B23E-30F8-31B646CB9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C63FD-02D4-7C42-AF7E-CC9ED9E18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A1CB2-3947-2E0B-C6F6-474DC013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E8E78-702A-9114-4AA7-A6336EF6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4DC29-BB4A-41A7-A9ED-0C74AEC2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7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0C940-3C0F-09F1-A9D3-5ADBED53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CEC70-ED9A-D9B1-2E89-6BAE715B5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1A3E3-BD41-8AE5-D174-85CD5F812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695F9-90B2-9844-80BC-14E4F6F36958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3165C-D26D-1168-A722-980B03052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46DCA-B5DA-080A-C2DA-1C6B1D9BC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777B2-0F4E-B145-B296-B5FFAADAE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2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CF32C7-7EC8-D5D8-2F1A-2AFB412CF77B}"/>
              </a:ext>
            </a:extLst>
          </p:cNvPr>
          <p:cNvSpPr/>
          <p:nvPr/>
        </p:nvSpPr>
        <p:spPr>
          <a:xfrm>
            <a:off x="460872" y="747574"/>
            <a:ext cx="11270256" cy="1729648"/>
          </a:xfrm>
          <a:prstGeom prst="roundRect">
            <a:avLst/>
          </a:prstGeom>
          <a:solidFill>
            <a:srgbClr val="EEF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19FDDA-FE3C-816E-82C0-CE46EBD345C5}"/>
              </a:ext>
            </a:extLst>
          </p:cNvPr>
          <p:cNvSpPr/>
          <p:nvPr/>
        </p:nvSpPr>
        <p:spPr>
          <a:xfrm>
            <a:off x="460872" y="2694805"/>
            <a:ext cx="11270256" cy="1729648"/>
          </a:xfrm>
          <a:prstGeom prst="roundRect">
            <a:avLst/>
          </a:prstGeom>
          <a:solidFill>
            <a:srgbClr val="C9DF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72828A-FC45-8750-B93D-5AB900E53C00}"/>
              </a:ext>
            </a:extLst>
          </p:cNvPr>
          <p:cNvSpPr/>
          <p:nvPr/>
        </p:nvSpPr>
        <p:spPr>
          <a:xfrm>
            <a:off x="460872" y="4642036"/>
            <a:ext cx="11270256" cy="1729648"/>
          </a:xfrm>
          <a:prstGeom prst="roundRect">
            <a:avLst/>
          </a:prstGeom>
          <a:solidFill>
            <a:srgbClr val="7FAE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5064D-EE95-7115-DDFC-0ECFB8CB96B9}"/>
              </a:ext>
            </a:extLst>
          </p:cNvPr>
          <p:cNvSpPr txBox="1"/>
          <p:nvPr/>
        </p:nvSpPr>
        <p:spPr>
          <a:xfrm>
            <a:off x="626126" y="747574"/>
            <a:ext cx="378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1. READ PRE-PROCESSING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DA48E-9807-D008-51D3-C9D1B9EA1B5E}"/>
              </a:ext>
            </a:extLst>
          </p:cNvPr>
          <p:cNvSpPr txBox="1"/>
          <p:nvPr/>
        </p:nvSpPr>
        <p:spPr>
          <a:xfrm>
            <a:off x="626126" y="2732963"/>
            <a:ext cx="478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2. ALIGNMENT &amp; QUANITIFICATION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7B5C5-8EB1-BD01-7CD8-70603889630B}"/>
              </a:ext>
            </a:extLst>
          </p:cNvPr>
          <p:cNvSpPr txBox="1"/>
          <p:nvPr/>
        </p:nvSpPr>
        <p:spPr>
          <a:xfrm>
            <a:off x="626126" y="4642036"/>
            <a:ext cx="522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3. STATISTICAL AND FUNCTIONAL ANALYSIS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DDCFC2-6FEA-BF1A-D1EB-8DAB590749C4}"/>
              </a:ext>
            </a:extLst>
          </p:cNvPr>
          <p:cNvSpPr/>
          <p:nvPr/>
        </p:nvSpPr>
        <p:spPr>
          <a:xfrm>
            <a:off x="1104960" y="1127178"/>
            <a:ext cx="462708" cy="462173"/>
          </a:xfrm>
          <a:prstGeom prst="ellipse">
            <a:avLst/>
          </a:prstGeom>
          <a:solidFill>
            <a:srgbClr val="A3A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3790F-3708-0C75-4F60-DB56F32F7FDE}"/>
              </a:ext>
            </a:extLst>
          </p:cNvPr>
          <p:cNvSpPr txBox="1"/>
          <p:nvPr/>
        </p:nvSpPr>
        <p:spPr>
          <a:xfrm>
            <a:off x="1442408" y="1184947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Raw paired-end reads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CDADEC-47C4-A1B9-9120-1E2BFE686C0C}"/>
              </a:ext>
            </a:extLst>
          </p:cNvPr>
          <p:cNvSpPr txBox="1"/>
          <p:nvPr/>
        </p:nvSpPr>
        <p:spPr>
          <a:xfrm>
            <a:off x="1442408" y="1764764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8866D"/>
                </a:solidFill>
                <a:latin typeface="Avenir Book" panose="02000503020000020003" pitchFamily="2" charset="0"/>
              </a:rPr>
              <a:t>Paired-end </a:t>
            </a:r>
            <a:r>
              <a:rPr lang="en-US" dirty="0" err="1">
                <a:solidFill>
                  <a:srgbClr val="78866D"/>
                </a:solidFill>
                <a:latin typeface="Avenir Book" panose="02000503020000020003" pitchFamily="2" charset="0"/>
              </a:rPr>
              <a:t>FastaQC</a:t>
            </a:r>
            <a:endParaRPr lang="en-US" dirty="0">
              <a:solidFill>
                <a:srgbClr val="78866D"/>
              </a:solidFill>
              <a:latin typeface="Avenir Book" panose="02000503020000020003" pitchFamily="2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7F954C-B45C-5D49-0712-FBCB19676F56}"/>
              </a:ext>
            </a:extLst>
          </p:cNvPr>
          <p:cNvCxnSpPr>
            <a:cxnSpLocks/>
          </p:cNvCxnSpPr>
          <p:nvPr/>
        </p:nvCxnSpPr>
        <p:spPr>
          <a:xfrm>
            <a:off x="3318565" y="1513021"/>
            <a:ext cx="346681" cy="0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B64689F-4042-5596-EBF9-42B77A593FD0}"/>
              </a:ext>
            </a:extLst>
          </p:cNvPr>
          <p:cNvSpPr/>
          <p:nvPr/>
        </p:nvSpPr>
        <p:spPr>
          <a:xfrm>
            <a:off x="3819745" y="1127178"/>
            <a:ext cx="462708" cy="462173"/>
          </a:xfrm>
          <a:prstGeom prst="ellipse">
            <a:avLst/>
          </a:prstGeom>
          <a:solidFill>
            <a:srgbClr val="A3A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CD85F-F009-13AA-50F9-CFDC404E86C3}"/>
              </a:ext>
            </a:extLst>
          </p:cNvPr>
          <p:cNvSpPr txBox="1"/>
          <p:nvPr/>
        </p:nvSpPr>
        <p:spPr>
          <a:xfrm>
            <a:off x="4102975" y="1184946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rRNA removal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8094DD-5CF1-C004-EEAC-5BF322C9653A}"/>
              </a:ext>
            </a:extLst>
          </p:cNvPr>
          <p:cNvSpPr txBox="1"/>
          <p:nvPr/>
        </p:nvSpPr>
        <p:spPr>
          <a:xfrm>
            <a:off x="3898315" y="1732338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78866D"/>
                </a:solidFill>
                <a:latin typeface="Avenir Book" panose="02000503020000020003" pitchFamily="2" charset="0"/>
              </a:rPr>
              <a:t>SortMeRNA</a:t>
            </a:r>
            <a:endParaRPr lang="en-US" dirty="0">
              <a:solidFill>
                <a:srgbClr val="78866D"/>
              </a:solidFill>
              <a:latin typeface="Avenir Book" panose="02000503020000020003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460FD3-3AD8-606B-99AB-C26EA701976C}"/>
              </a:ext>
            </a:extLst>
          </p:cNvPr>
          <p:cNvCxnSpPr>
            <a:cxnSpLocks/>
          </p:cNvCxnSpPr>
          <p:nvPr/>
        </p:nvCxnSpPr>
        <p:spPr>
          <a:xfrm>
            <a:off x="5853475" y="1513021"/>
            <a:ext cx="346681" cy="0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24A9413-89C9-BB40-15B5-19C4A971C323}"/>
              </a:ext>
            </a:extLst>
          </p:cNvPr>
          <p:cNvSpPr/>
          <p:nvPr/>
        </p:nvSpPr>
        <p:spPr>
          <a:xfrm>
            <a:off x="6456540" y="1149821"/>
            <a:ext cx="462708" cy="462173"/>
          </a:xfrm>
          <a:prstGeom prst="ellipse">
            <a:avLst/>
          </a:prstGeom>
          <a:solidFill>
            <a:srgbClr val="A3A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ACEC99-C2C4-C7CB-BA72-67417E553559}"/>
              </a:ext>
            </a:extLst>
          </p:cNvPr>
          <p:cNvSpPr txBox="1"/>
          <p:nvPr/>
        </p:nvSpPr>
        <p:spPr>
          <a:xfrm>
            <a:off x="6872609" y="1185348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Adapter &amp; quality trimming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E6A9DE-C3FB-AA6C-EC24-B31E21568376}"/>
              </a:ext>
            </a:extLst>
          </p:cNvPr>
          <p:cNvSpPr txBox="1"/>
          <p:nvPr/>
        </p:nvSpPr>
        <p:spPr>
          <a:xfrm>
            <a:off x="6785202" y="1764762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78866D"/>
                </a:solidFill>
                <a:latin typeface="Avenir Book" panose="02000503020000020003" pitchFamily="2" charset="0"/>
              </a:rPr>
              <a:t>Trimmomatic</a:t>
            </a:r>
            <a:endParaRPr lang="en-US" dirty="0">
              <a:solidFill>
                <a:srgbClr val="78866D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53EEAC-29DB-F072-BF71-0BABE530DAFE}"/>
              </a:ext>
            </a:extLst>
          </p:cNvPr>
          <p:cNvCxnSpPr>
            <a:cxnSpLocks/>
          </p:cNvCxnSpPr>
          <p:nvPr/>
        </p:nvCxnSpPr>
        <p:spPr>
          <a:xfrm>
            <a:off x="8802338" y="1513021"/>
            <a:ext cx="346681" cy="0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BAEF052-9F84-4803-2FDA-3A3AA79413B5}"/>
              </a:ext>
            </a:extLst>
          </p:cNvPr>
          <p:cNvSpPr/>
          <p:nvPr/>
        </p:nvSpPr>
        <p:spPr>
          <a:xfrm>
            <a:off x="9249316" y="1127178"/>
            <a:ext cx="462708" cy="462173"/>
          </a:xfrm>
          <a:prstGeom prst="ellipse">
            <a:avLst/>
          </a:prstGeom>
          <a:solidFill>
            <a:srgbClr val="A3A7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E93851-FD54-4960-DE0F-CF095BCF34E0}"/>
              </a:ext>
            </a:extLst>
          </p:cNvPr>
          <p:cNvSpPr txBox="1"/>
          <p:nvPr/>
        </p:nvSpPr>
        <p:spPr>
          <a:xfrm>
            <a:off x="9586764" y="1149821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Contaminant removal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68CC4C-3930-FCE8-D10B-4DDD9C1BB4E7}"/>
              </a:ext>
            </a:extLst>
          </p:cNvPr>
          <p:cNvSpPr txBox="1"/>
          <p:nvPr/>
        </p:nvSpPr>
        <p:spPr>
          <a:xfrm>
            <a:off x="9586764" y="1729638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8866D"/>
                </a:solidFill>
                <a:latin typeface="Avenir Book" panose="02000503020000020003" pitchFamily="2" charset="0"/>
              </a:rPr>
              <a:t>Kraken2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289C25-86AA-9909-9593-39472ED0ED9E}"/>
              </a:ext>
            </a:extLst>
          </p:cNvPr>
          <p:cNvSpPr/>
          <p:nvPr/>
        </p:nvSpPr>
        <p:spPr>
          <a:xfrm>
            <a:off x="3092145" y="1870168"/>
            <a:ext cx="823998" cy="459272"/>
          </a:xfrm>
          <a:prstGeom prst="ellipse">
            <a:avLst/>
          </a:prstGeom>
          <a:solidFill>
            <a:srgbClr val="BDC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A342CE-3D22-FD19-CE4C-DD0C7B03242E}"/>
              </a:ext>
            </a:extLst>
          </p:cNvPr>
          <p:cNvSpPr/>
          <p:nvPr/>
        </p:nvSpPr>
        <p:spPr>
          <a:xfrm>
            <a:off x="5614816" y="1873605"/>
            <a:ext cx="823998" cy="459272"/>
          </a:xfrm>
          <a:prstGeom prst="ellipse">
            <a:avLst/>
          </a:prstGeom>
          <a:solidFill>
            <a:srgbClr val="BDC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9D45BA-B83C-A9C6-4A4B-152948102135}"/>
              </a:ext>
            </a:extLst>
          </p:cNvPr>
          <p:cNvSpPr/>
          <p:nvPr/>
        </p:nvSpPr>
        <p:spPr>
          <a:xfrm>
            <a:off x="8555972" y="1857283"/>
            <a:ext cx="823998" cy="459272"/>
          </a:xfrm>
          <a:prstGeom prst="ellipse">
            <a:avLst/>
          </a:prstGeom>
          <a:solidFill>
            <a:srgbClr val="BDC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655EDE-701C-E668-6FFA-93C6D7088604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3504144" y="1677523"/>
            <a:ext cx="0" cy="192645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E18518-01C4-0E9A-DB09-077A45FA62E6}"/>
              </a:ext>
            </a:extLst>
          </p:cNvPr>
          <p:cNvCxnSpPr>
            <a:cxnSpLocks/>
          </p:cNvCxnSpPr>
          <p:nvPr/>
        </p:nvCxnSpPr>
        <p:spPr>
          <a:xfrm flipV="1">
            <a:off x="6026815" y="1699829"/>
            <a:ext cx="0" cy="192645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45FE21-9EA8-DCF7-DF2B-C5B5C486FC59}"/>
              </a:ext>
            </a:extLst>
          </p:cNvPr>
          <p:cNvCxnSpPr>
            <a:cxnSpLocks/>
          </p:cNvCxnSpPr>
          <p:nvPr/>
        </p:nvCxnSpPr>
        <p:spPr>
          <a:xfrm flipV="1">
            <a:off x="8967971" y="1668440"/>
            <a:ext cx="0" cy="192645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4BA89B3-EEED-8C91-5F42-3508EE71157D}"/>
              </a:ext>
            </a:extLst>
          </p:cNvPr>
          <p:cNvSpPr/>
          <p:nvPr/>
        </p:nvSpPr>
        <p:spPr>
          <a:xfrm>
            <a:off x="1650217" y="3116317"/>
            <a:ext cx="462708" cy="462173"/>
          </a:xfrm>
          <a:prstGeom prst="ellipse">
            <a:avLst/>
          </a:prstGeom>
          <a:solidFill>
            <a:srgbClr val="8594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AADB5A-7965-7A83-6F3E-D7864CFDEC4A}"/>
              </a:ext>
            </a:extLst>
          </p:cNvPr>
          <p:cNvSpPr txBox="1"/>
          <p:nvPr/>
        </p:nvSpPr>
        <p:spPr>
          <a:xfrm>
            <a:off x="2112925" y="3116317"/>
            <a:ext cx="2372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Reference genome alignment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B32225-5966-1C90-173C-63871E623E80}"/>
              </a:ext>
            </a:extLst>
          </p:cNvPr>
          <p:cNvSpPr txBox="1"/>
          <p:nvPr/>
        </p:nvSpPr>
        <p:spPr>
          <a:xfrm>
            <a:off x="2315225" y="3795565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8745F"/>
                </a:solidFill>
                <a:latin typeface="Avenir Book" panose="02000503020000020003" pitchFamily="2" charset="0"/>
              </a:rPr>
              <a:t>HISAT2 </a:t>
            </a:r>
            <a:r>
              <a:rPr lang="en-US" dirty="0" err="1">
                <a:solidFill>
                  <a:srgbClr val="68745F"/>
                </a:solidFill>
                <a:latin typeface="Avenir Book" panose="02000503020000020003" pitchFamily="2" charset="0"/>
              </a:rPr>
              <a:t>SAMTools</a:t>
            </a:r>
            <a:endParaRPr lang="en-US" dirty="0">
              <a:solidFill>
                <a:srgbClr val="68745F"/>
              </a:solidFill>
              <a:latin typeface="Avenir Book" panose="02000503020000020003" pitchFamily="2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220A94-E80B-33D3-31C4-C1D91FC61A88}"/>
              </a:ext>
            </a:extLst>
          </p:cNvPr>
          <p:cNvCxnSpPr>
            <a:cxnSpLocks/>
          </p:cNvCxnSpPr>
          <p:nvPr/>
        </p:nvCxnSpPr>
        <p:spPr>
          <a:xfrm>
            <a:off x="4582864" y="3413832"/>
            <a:ext cx="2305938" cy="0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B088BA4-8C55-FE03-33D8-0440ABF87366}"/>
              </a:ext>
            </a:extLst>
          </p:cNvPr>
          <p:cNvSpPr/>
          <p:nvPr/>
        </p:nvSpPr>
        <p:spPr>
          <a:xfrm>
            <a:off x="7240168" y="3082892"/>
            <a:ext cx="462708" cy="462173"/>
          </a:xfrm>
          <a:prstGeom prst="ellipse">
            <a:avLst/>
          </a:prstGeom>
          <a:solidFill>
            <a:srgbClr val="8594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4CBA14-310B-D747-A1B8-E66D50B175F5}"/>
              </a:ext>
            </a:extLst>
          </p:cNvPr>
          <p:cNvSpPr txBox="1"/>
          <p:nvPr/>
        </p:nvSpPr>
        <p:spPr>
          <a:xfrm>
            <a:off x="7613241" y="3116317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Gene-level </a:t>
            </a:r>
            <a:r>
              <a:rPr lang="en-US" b="1" dirty="0" err="1">
                <a:latin typeface="Avenir Book" panose="02000503020000020003" pitchFamily="2" charset="0"/>
              </a:rPr>
              <a:t>quanitifcation</a:t>
            </a:r>
            <a:endParaRPr lang="en-US" b="1" dirty="0">
              <a:latin typeface="Avenir Book" panose="02000503020000020003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1C10DB-BA00-6897-2B2D-A9E4CF853732}"/>
              </a:ext>
            </a:extLst>
          </p:cNvPr>
          <p:cNvSpPr txBox="1"/>
          <p:nvPr/>
        </p:nvSpPr>
        <p:spPr>
          <a:xfrm>
            <a:off x="7672157" y="3762648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68745F"/>
                </a:solidFill>
                <a:latin typeface="Avenir Book" panose="02000503020000020003" pitchFamily="2" charset="0"/>
              </a:rPr>
              <a:t>featureCounts</a:t>
            </a:r>
            <a:endParaRPr lang="en-US" dirty="0">
              <a:solidFill>
                <a:srgbClr val="68745F"/>
              </a:solidFill>
              <a:latin typeface="Avenir Book" panose="02000503020000020003" pitchFamily="2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A044568-BB7E-263A-B176-908F2687DD48}"/>
              </a:ext>
            </a:extLst>
          </p:cNvPr>
          <p:cNvSpPr/>
          <p:nvPr/>
        </p:nvSpPr>
        <p:spPr>
          <a:xfrm>
            <a:off x="5317420" y="3788588"/>
            <a:ext cx="823998" cy="459272"/>
          </a:xfrm>
          <a:prstGeom prst="ellipse">
            <a:avLst/>
          </a:prstGeom>
          <a:solidFill>
            <a:srgbClr val="BDC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D003080-280E-89AB-AAC9-4319A6B09E54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5729419" y="3595943"/>
            <a:ext cx="0" cy="192645"/>
          </a:xfrm>
          <a:prstGeom prst="straightConnector1">
            <a:avLst/>
          </a:prstGeom>
          <a:ln>
            <a:solidFill>
              <a:srgbClr val="91957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A7E35268-E13B-C20C-5E81-097B816B403D}"/>
              </a:ext>
            </a:extLst>
          </p:cNvPr>
          <p:cNvSpPr/>
          <p:nvPr/>
        </p:nvSpPr>
        <p:spPr>
          <a:xfrm>
            <a:off x="772955" y="5005186"/>
            <a:ext cx="462708" cy="462173"/>
          </a:xfrm>
          <a:prstGeom prst="ellipse">
            <a:avLst/>
          </a:prstGeom>
          <a:solidFill>
            <a:srgbClr val="5A7C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0A517F-CACE-22B3-D13A-73F90D42D73C}"/>
              </a:ext>
            </a:extLst>
          </p:cNvPr>
          <p:cNvSpPr txBox="1"/>
          <p:nvPr/>
        </p:nvSpPr>
        <p:spPr>
          <a:xfrm>
            <a:off x="1168771" y="5062955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Differential gene expression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9B6829-0F10-7DCB-2BF4-D7D9C9B06852}"/>
              </a:ext>
            </a:extLst>
          </p:cNvPr>
          <p:cNvSpPr txBox="1"/>
          <p:nvPr/>
        </p:nvSpPr>
        <p:spPr>
          <a:xfrm>
            <a:off x="1168771" y="5642772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0444C"/>
                </a:solidFill>
                <a:latin typeface="Avenir Book" panose="02000503020000020003" pitchFamily="2" charset="0"/>
              </a:rPr>
              <a:t>R: DESeq2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48D0D67-E727-6908-FBB3-C21AE2187C95}"/>
              </a:ext>
            </a:extLst>
          </p:cNvPr>
          <p:cNvCxnSpPr>
            <a:cxnSpLocks/>
          </p:cNvCxnSpPr>
          <p:nvPr/>
        </p:nvCxnSpPr>
        <p:spPr>
          <a:xfrm>
            <a:off x="3044928" y="5386120"/>
            <a:ext cx="346681" cy="0"/>
          </a:xfrm>
          <a:prstGeom prst="straightConnector1">
            <a:avLst/>
          </a:prstGeom>
          <a:ln>
            <a:solidFill>
              <a:srgbClr val="3E56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BB20AC6-5D7C-9983-3DFC-FA9DA51390D4}"/>
              </a:ext>
            </a:extLst>
          </p:cNvPr>
          <p:cNvSpPr/>
          <p:nvPr/>
        </p:nvSpPr>
        <p:spPr>
          <a:xfrm>
            <a:off x="3546108" y="5005186"/>
            <a:ext cx="462708" cy="462173"/>
          </a:xfrm>
          <a:prstGeom prst="ellipse">
            <a:avLst/>
          </a:prstGeom>
          <a:solidFill>
            <a:srgbClr val="5A7C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C02738-BD44-2538-2C60-2E6B900620B3}"/>
              </a:ext>
            </a:extLst>
          </p:cNvPr>
          <p:cNvSpPr txBox="1"/>
          <p:nvPr/>
        </p:nvSpPr>
        <p:spPr>
          <a:xfrm>
            <a:off x="3829338" y="5062954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Functional annotation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ECE2C9-4B68-33B6-DFBC-2C2806805FB9}"/>
              </a:ext>
            </a:extLst>
          </p:cNvPr>
          <p:cNvSpPr txBox="1"/>
          <p:nvPr/>
        </p:nvSpPr>
        <p:spPr>
          <a:xfrm>
            <a:off x="3827866" y="5611146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30444C"/>
                </a:solidFill>
                <a:latin typeface="Avenir Book" panose="02000503020000020003" pitchFamily="2" charset="0"/>
              </a:rPr>
              <a:t>eggNOG</a:t>
            </a:r>
            <a:r>
              <a:rPr lang="en-US" dirty="0">
                <a:solidFill>
                  <a:srgbClr val="30444C"/>
                </a:solidFill>
                <a:latin typeface="Avenir Book" panose="02000503020000020003" pitchFamily="2" charset="0"/>
              </a:rPr>
              <a:t>-mapper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87AC132-3556-37F9-6BDD-8F54E82F41A2}"/>
              </a:ext>
            </a:extLst>
          </p:cNvPr>
          <p:cNvCxnSpPr>
            <a:cxnSpLocks/>
          </p:cNvCxnSpPr>
          <p:nvPr/>
        </p:nvCxnSpPr>
        <p:spPr>
          <a:xfrm>
            <a:off x="5579838" y="5386120"/>
            <a:ext cx="346681" cy="0"/>
          </a:xfrm>
          <a:prstGeom prst="straightConnector1">
            <a:avLst/>
          </a:prstGeom>
          <a:ln>
            <a:solidFill>
              <a:srgbClr val="3E56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EB52BC1F-ACBC-E0BF-53EB-4C398DA74D20}"/>
              </a:ext>
            </a:extLst>
          </p:cNvPr>
          <p:cNvSpPr/>
          <p:nvPr/>
        </p:nvSpPr>
        <p:spPr>
          <a:xfrm>
            <a:off x="6260893" y="5005186"/>
            <a:ext cx="462708" cy="462173"/>
          </a:xfrm>
          <a:prstGeom prst="ellipse">
            <a:avLst/>
          </a:prstGeom>
          <a:solidFill>
            <a:srgbClr val="5A7C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635FEA-7BC8-4B5E-E5F0-2F42D90BB79F}"/>
              </a:ext>
            </a:extLst>
          </p:cNvPr>
          <p:cNvSpPr txBox="1"/>
          <p:nvPr/>
        </p:nvSpPr>
        <p:spPr>
          <a:xfrm>
            <a:off x="6746371" y="5070784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GO enrichment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DF2C2B-B6A3-5AD4-4851-6279BD2933D2}"/>
              </a:ext>
            </a:extLst>
          </p:cNvPr>
          <p:cNvSpPr txBox="1"/>
          <p:nvPr/>
        </p:nvSpPr>
        <p:spPr>
          <a:xfrm>
            <a:off x="6638095" y="5598028"/>
            <a:ext cx="19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0444C"/>
                </a:solidFill>
                <a:latin typeface="Avenir Book" panose="02000503020000020003" pitchFamily="2" charset="0"/>
              </a:rPr>
              <a:t>R: </a:t>
            </a:r>
            <a:r>
              <a:rPr lang="en-US" dirty="0" err="1">
                <a:solidFill>
                  <a:srgbClr val="30444C"/>
                </a:solidFill>
                <a:latin typeface="Avenir Book" panose="02000503020000020003" pitchFamily="2" charset="0"/>
              </a:rPr>
              <a:t>topGO</a:t>
            </a:r>
            <a:endParaRPr lang="en-US" dirty="0">
              <a:solidFill>
                <a:srgbClr val="30444C"/>
              </a:solidFill>
              <a:latin typeface="Avenir Book" panose="02000503020000020003" pitchFamily="2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64A04A4-8FB0-65F1-C7E1-4CD68DD35896}"/>
              </a:ext>
            </a:extLst>
          </p:cNvPr>
          <p:cNvCxnSpPr>
            <a:cxnSpLocks/>
          </p:cNvCxnSpPr>
          <p:nvPr/>
        </p:nvCxnSpPr>
        <p:spPr>
          <a:xfrm>
            <a:off x="8551105" y="5386119"/>
            <a:ext cx="346681" cy="0"/>
          </a:xfrm>
          <a:prstGeom prst="straightConnector1">
            <a:avLst/>
          </a:prstGeom>
          <a:ln>
            <a:solidFill>
              <a:srgbClr val="3E56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7C8E112C-1988-61A4-130C-064F42396BF3}"/>
              </a:ext>
            </a:extLst>
          </p:cNvPr>
          <p:cNvSpPr/>
          <p:nvPr/>
        </p:nvSpPr>
        <p:spPr>
          <a:xfrm>
            <a:off x="8975679" y="5005186"/>
            <a:ext cx="609488" cy="462173"/>
          </a:xfrm>
          <a:prstGeom prst="ellipse">
            <a:avLst/>
          </a:prstGeom>
          <a:solidFill>
            <a:srgbClr val="5A7C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9E016E-CD90-CB86-521B-6798D720A8C0}"/>
              </a:ext>
            </a:extLst>
          </p:cNvPr>
          <p:cNvSpPr txBox="1"/>
          <p:nvPr/>
        </p:nvSpPr>
        <p:spPr>
          <a:xfrm>
            <a:off x="9313127" y="5027829"/>
            <a:ext cx="191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venir Book" panose="02000503020000020003" pitchFamily="2" charset="0"/>
              </a:rPr>
              <a:t>Figures &amp; visualization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DEDC20-55A5-504E-5DCC-46233B39BA26}"/>
              </a:ext>
            </a:extLst>
          </p:cNvPr>
          <p:cNvSpPr txBox="1"/>
          <p:nvPr/>
        </p:nvSpPr>
        <p:spPr>
          <a:xfrm>
            <a:off x="9313127" y="5607646"/>
            <a:ext cx="2068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0444C"/>
                </a:solidFill>
                <a:latin typeface="Avenir Book" panose="02000503020000020003" pitchFamily="2" charset="0"/>
              </a:rPr>
              <a:t>R: ggplot2, </a:t>
            </a:r>
            <a:r>
              <a:rPr lang="en-US" dirty="0" err="1">
                <a:solidFill>
                  <a:srgbClr val="30444C"/>
                </a:solidFill>
                <a:latin typeface="Avenir Book" panose="02000503020000020003" pitchFamily="2" charset="0"/>
              </a:rPr>
              <a:t>ComplexHeatmap</a:t>
            </a:r>
            <a:endParaRPr lang="en-US" dirty="0">
              <a:solidFill>
                <a:srgbClr val="30444C"/>
              </a:solidFill>
              <a:latin typeface="Avenir Book" panose="02000503020000020003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3673F6-B0ED-AEF8-A44A-DA24C13891FC}"/>
              </a:ext>
            </a:extLst>
          </p:cNvPr>
          <p:cNvSpPr txBox="1"/>
          <p:nvPr/>
        </p:nvSpPr>
        <p:spPr>
          <a:xfrm>
            <a:off x="119282" y="211773"/>
            <a:ext cx="4559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Avenir Book" panose="02000503020000020003" pitchFamily="2" charset="0"/>
              </a:rPr>
              <a:t>Arbacia lixula </a:t>
            </a:r>
            <a:r>
              <a:rPr lang="en-US" sz="2400" b="1" dirty="0">
                <a:latin typeface="Avenir Book" panose="02000503020000020003" pitchFamily="2" charset="0"/>
              </a:rPr>
              <a:t>RNA-seq workflow</a:t>
            </a:r>
          </a:p>
        </p:txBody>
      </p:sp>
    </p:spTree>
    <p:extLst>
      <p:ext uri="{BB962C8B-B14F-4D97-AF65-F5344CB8AC3E}">
        <p14:creationId xmlns:p14="http://schemas.microsoft.com/office/powerpoint/2010/main" val="209534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79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Vanessa Arranz</dc:creator>
  <cp:lastModifiedBy>Vanessa Arranz</cp:lastModifiedBy>
  <cp:revision>2</cp:revision>
  <dcterms:created xsi:type="dcterms:W3CDTF">2026-08-24T13:18:05Z</dcterms:created>
  <dcterms:modified xsi:type="dcterms:W3CDTF">2026-08-24T14:15:26Z</dcterms:modified>
</cp:coreProperties>
</file>